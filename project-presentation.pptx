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2" r:id="rId6"/>
    <p:sldId id="264" r:id="rId7"/>
    <p:sldId id="261" r:id="rId8"/>
    <p:sldId id="263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5AA96-E873-466A-8654-09B116CEE497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CEFD6-F14B-4C75-80D0-95016769C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CEFD6-F14B-4C75-80D0-95016769C2D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78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0F508-F44C-7ADF-4DD2-B407AE3AE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8FFF6-738D-2BD4-BAAE-A287A4D66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C4D80-A62D-8AB8-F6B8-20F31EB2B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141F7-6647-3428-9F4D-5F9775D38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CEFD6-F14B-4C75-80D0-95016769C2D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68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C060-7D87-C758-E356-7C860425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04737-21D4-2FC7-47C9-22EB848FC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63D7E-654E-4709-6254-097BFF8F1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B9EA2-F3D6-81DE-C724-9664B81F1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CEFD6-F14B-4C75-80D0-95016769C2D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221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A620E-7027-23E7-FF8F-CF55C27B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494C3-8525-9FF4-CE3C-0EA8B014C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64596-6882-E53D-AB49-38BDC1D01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517A5-EA90-FF5D-B3BD-E8A3C5B25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CEFD6-F14B-4C75-80D0-95016769C2D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460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884F1-A3C7-1599-6990-CED7F297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8BDCD-901C-7310-213A-9A3266FC1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F582E-D8DE-ACC8-AD4D-C77078E6F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FF7BC-1597-719A-FC4B-79EEDD91A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CEFD6-F14B-4C75-80D0-95016769C2D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43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4610-6E39-5540-0098-4BA882B7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D2794-3FCC-FC8C-E492-6838C8217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34FCD-36FB-20F4-AA70-283EEDE5C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36E93-AF02-9FDB-5D04-2E914603F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CEFD6-F14B-4C75-80D0-95016769C2D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765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B179-4A48-736D-1408-E77762379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5E268-395A-FAE1-A8BA-0E488247A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2637C-2D34-59D7-FDBB-FBEA17F2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042DA-7B32-36C5-5CDB-7F3A396D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6CC93-BC74-AFFE-6FDE-165DF202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98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C2981-C083-0F3F-4C34-588FB459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12600-2F4A-3E4A-A365-0971D1EF3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DBFCC-B27D-14CC-EF19-1E450FBE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15941-DA87-526B-6D35-0F321C9D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05385-3972-54F9-4A9E-C03717AA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87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AF9EA-5CF9-9611-39F7-494984CB4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F6444-D03C-8D2C-00F7-5F5C0EF38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1F5FB-7004-E966-8ED5-426B3D22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7C0C-0B08-19DF-744B-78278DE8A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879A9-51A9-3C91-2113-DA2A5808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69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62EB-E426-9076-3848-32984722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1E2CF-5782-7486-C02F-A42DC398B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0BC87-71FE-664A-F6DC-6B39656FB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6F4D4-3825-3476-7853-298185DED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F8327-EC2F-2FE0-E02C-23B381B41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A2F3B-699C-B0CF-9D43-0C0CBFEC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994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4D51-A406-49CE-5892-19BD17491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7C5B7-6A01-C098-F438-6D61365BC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DE295-5D64-CAD3-6598-05A8904FD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734AD-2860-7963-5185-188B79C6B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4C373-E721-B3FF-C038-218EE357A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72C35-37E7-E178-8D17-F8F8FE4D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D5ABE-92DD-CE3E-D932-91572DA9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2772C-A40B-0275-9A7D-C31D450B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91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098F-DE06-6762-1BB7-D71F8170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5B7A9-CCC6-56A6-0B1F-4F9182CB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6341F-018D-793E-954E-9A3E390B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0763A-DB0E-DB17-58FB-C0E01FBA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807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BF0E56-47CF-BF81-7048-114A2985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5B3D4-3D4C-8F45-0E5A-5C1F7C4B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42532-EF28-4B87-317C-11B4CDCA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29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F38-DB5D-7661-AD77-5E764FD3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E358-4CDE-3583-AD4D-0B3263D53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D7B60-96F2-5ADD-999A-83D7B7762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3D50D-6AAA-9697-01F5-77DD0A0F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77850-88AC-BFFB-0D3C-2AF08219E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A1396-831A-FF1A-F93F-5D43D5B7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17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93F5-B7F8-EFB4-0D18-D05D43EE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B16CCA-08FC-506C-6195-394D32579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BF78E-C81A-BFBF-6AB4-11768EA1C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20F45-D031-EC82-2CF7-848D65B9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90942-FB71-B66F-C626-EE1C30DF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FD20-E9A6-1F06-2B65-3D0D910D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77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4542-CF4E-20DC-DBC3-9B9EEAA0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AB0EA-F3A4-FA92-1526-A498ED161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B16D-02E3-9E5F-AE98-B423D56E4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37A06-BDA3-201E-FB20-8FFF75C38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C705-A265-6A9B-EACC-A4E46074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9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65F56-B406-E88A-B7F6-4C07BAB6E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0DC2A-C38A-A317-0AE8-AD6FC2AC9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F3365-7B7A-F7E3-94BE-5ECDA313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30C69-5D13-7E09-06AE-D6CFE089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A083F-4C94-B8A3-1A07-BC7A379D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840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E856D-304D-AF47-910B-5CE2039D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C437B-C644-8D2B-128A-01FB64B7A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0C752-F7D0-8CD3-C9F2-D3CA59C99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5162D-5125-4FAD-8DFA-9C8793D4EDAB}" type="datetimeFigureOut">
              <a:rPr lang="en-GB" smtClean="0"/>
              <a:t>06/04/2025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280B6-7D64-EB80-9093-BE2919687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DC9D2-EA4E-852E-B3FA-616999ED7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05627-2BE3-49B6-B8DB-E2F79D36C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88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E61114-B167-D26A-5130-277D4D243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it-IT" sz="5200">
                <a:solidFill>
                  <a:schemeClr val="tx2"/>
                </a:solidFill>
              </a:rPr>
              <a:t>GP types comparison</a:t>
            </a:r>
            <a:endParaRPr lang="en-GB" sz="52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38FAC-24B2-229C-54BD-A96F5ADF4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it-IT" sz="1500">
                <a:solidFill>
                  <a:schemeClr val="tx2"/>
                </a:solidFill>
              </a:rPr>
              <a:t>Project presentation for ML</a:t>
            </a:r>
          </a:p>
          <a:p>
            <a:r>
              <a:rPr lang="it-IT" sz="1500">
                <a:solidFill>
                  <a:schemeClr val="tx2"/>
                </a:solidFill>
              </a:rPr>
              <a:t>Matteo Gianvenuti</a:t>
            </a:r>
            <a:endParaRPr lang="en-GB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19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1608F-12B5-3802-E8BE-8218CC1E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it-IT" sz="3600">
                <a:solidFill>
                  <a:schemeClr val="tx2"/>
                </a:solidFill>
              </a:rPr>
              <a:t>Project objective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0B3BE-CD49-DB13-A65D-A04081438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>
                <a:solidFill>
                  <a:schemeClr val="tx2"/>
                </a:solidFill>
              </a:rPr>
              <a:t>Compare the «</a:t>
            </a:r>
            <a:r>
              <a:rPr lang="it-IT" sz="1800" dirty="0" err="1">
                <a:solidFill>
                  <a:schemeClr val="tx2"/>
                </a:solidFill>
              </a:rPr>
              <a:t>modified</a:t>
            </a:r>
            <a:r>
              <a:rPr lang="it-IT" sz="1800" dirty="0">
                <a:solidFill>
                  <a:schemeClr val="tx2"/>
                </a:solidFill>
              </a:rPr>
              <a:t>» GP with the «</a:t>
            </a:r>
            <a:r>
              <a:rPr lang="it-IT" sz="1800" dirty="0" err="1">
                <a:solidFill>
                  <a:schemeClr val="tx2"/>
                </a:solidFill>
              </a:rPr>
              <a:t>normal</a:t>
            </a:r>
            <a:r>
              <a:rPr lang="it-IT" sz="1800" dirty="0">
                <a:solidFill>
                  <a:schemeClr val="tx2"/>
                </a:solidFill>
              </a:rPr>
              <a:t>» GP in </a:t>
            </a:r>
            <a:r>
              <a:rPr lang="it-IT" sz="1800" dirty="0" err="1">
                <a:solidFill>
                  <a:schemeClr val="tx2"/>
                </a:solidFill>
              </a:rPr>
              <a:t>terms</a:t>
            </a:r>
            <a:r>
              <a:rPr lang="it-IT" sz="1800" dirty="0">
                <a:solidFill>
                  <a:schemeClr val="tx2"/>
                </a:solidFill>
              </a:rPr>
              <a:t> of:</a:t>
            </a:r>
          </a:p>
          <a:p>
            <a:r>
              <a:rPr lang="it-IT" sz="1800" dirty="0">
                <a:solidFill>
                  <a:schemeClr val="tx2"/>
                </a:solidFill>
              </a:rPr>
              <a:t>Performance</a:t>
            </a:r>
          </a:p>
          <a:p>
            <a:r>
              <a:rPr lang="it-IT" sz="1800" dirty="0" err="1">
                <a:solidFill>
                  <a:schemeClr val="tx2"/>
                </a:solidFill>
              </a:rPr>
              <a:t>Effective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solution’s</a:t>
            </a:r>
            <a:r>
              <a:rPr lang="it-IT" sz="1800" dirty="0">
                <a:solidFill>
                  <a:schemeClr val="tx2"/>
                </a:solidFill>
              </a:rPr>
              <a:t> size</a:t>
            </a:r>
          </a:p>
          <a:p>
            <a:r>
              <a:rPr lang="it-IT" sz="1800" dirty="0">
                <a:solidFill>
                  <a:schemeClr val="tx2"/>
                </a:solidFill>
              </a:rPr>
              <a:t>Speed of </a:t>
            </a:r>
            <a:r>
              <a:rPr lang="it-IT" sz="1800" dirty="0" err="1">
                <a:solidFill>
                  <a:schemeClr val="tx2"/>
                </a:solidFill>
              </a:rPr>
              <a:t>convergence</a:t>
            </a:r>
            <a:endParaRPr lang="it-IT" sz="1800" dirty="0">
              <a:solidFill>
                <a:schemeClr val="tx2"/>
              </a:solidFill>
            </a:endParaRP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580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82CBD-3FE0-9228-32F4-81FE8495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2F8625-E219-A12C-CC18-EF4001A2F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2335B-942E-FB8B-2038-D8A81884A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9C050-D8AA-3A07-B2FB-33B7631A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>
                <a:solidFill>
                  <a:schemeClr val="tx2"/>
                </a:solidFill>
              </a:rPr>
              <a:t>Workflow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C7DFBEB-1751-118A-0DDD-F0ED79B3E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1406B5-DDE5-0746-9F53-ABA4A0F24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C6AE95-0C09-801D-9F2F-7A34DC03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E7657A2-D742-CB2A-5C0C-733811A30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5">
              <a:extLst>
                <a:ext uri="{FF2B5EF4-FFF2-40B4-BE49-F238E27FC236}">
                  <a16:creationId xmlns:a16="http://schemas.microsoft.com/office/drawing/2014/main" id="{08049915-DF55-B061-59FB-24D8AD3C7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FC095-0681-71B8-952A-D8B783D5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it-IT" sz="1800" dirty="0" err="1">
                <a:solidFill>
                  <a:schemeClr val="tx2"/>
                </a:solidFill>
              </a:rPr>
              <a:t>Understand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previous</a:t>
            </a:r>
            <a:r>
              <a:rPr lang="it-IT" sz="1800" dirty="0">
                <a:solidFill>
                  <a:schemeClr val="tx2"/>
                </a:solidFill>
              </a:rPr>
              <a:t> work</a:t>
            </a:r>
          </a:p>
          <a:p>
            <a:r>
              <a:rPr lang="it-IT" sz="1800" dirty="0">
                <a:solidFill>
                  <a:schemeClr val="tx2"/>
                </a:solidFill>
              </a:rPr>
              <a:t> Act for the </a:t>
            </a:r>
            <a:r>
              <a:rPr lang="it-IT" sz="1800" dirty="0" err="1">
                <a:solidFill>
                  <a:schemeClr val="tx2"/>
                </a:solidFill>
              </a:rPr>
              <a:t>objective</a:t>
            </a:r>
            <a:endParaRPr lang="it-IT" sz="1800" dirty="0">
              <a:solidFill>
                <a:schemeClr val="tx2"/>
              </a:solidFill>
            </a:endParaRPr>
          </a:p>
          <a:p>
            <a:endParaRPr lang="it-IT" sz="1800" dirty="0">
              <a:solidFill>
                <a:schemeClr val="tx2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E75E177-2943-788A-BCD7-2E94DE557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9" name="Freeform: Shape 18">
              <a:extLst>
                <a:ext uri="{FF2B5EF4-FFF2-40B4-BE49-F238E27FC236}">
                  <a16:creationId xmlns:a16="http://schemas.microsoft.com/office/drawing/2014/main" id="{2D08E157-6948-70FB-3B81-1EB994A2B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9">
              <a:extLst>
                <a:ext uri="{FF2B5EF4-FFF2-40B4-BE49-F238E27FC236}">
                  <a16:creationId xmlns:a16="http://schemas.microsoft.com/office/drawing/2014/main" id="{35555B00-1A18-2A35-2C24-1C6564EF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20">
              <a:extLst>
                <a:ext uri="{FF2B5EF4-FFF2-40B4-BE49-F238E27FC236}">
                  <a16:creationId xmlns:a16="http://schemas.microsoft.com/office/drawing/2014/main" id="{004FEE58-D903-E9A1-4119-54CDBAD3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21">
              <a:extLst>
                <a:ext uri="{FF2B5EF4-FFF2-40B4-BE49-F238E27FC236}">
                  <a16:creationId xmlns:a16="http://schemas.microsoft.com/office/drawing/2014/main" id="{0B6A2A11-0472-F609-B0B6-B42482529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086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B5C6D-0A14-C2AD-3DF8-F5147658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47DD06-C8AC-DC0B-54F1-BC2F383F3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AF680C-8755-955D-1F81-F25D1DECB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CB76E-427B-FA10-0D59-A9B454B2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 err="1">
                <a:solidFill>
                  <a:schemeClr val="tx2"/>
                </a:solidFill>
              </a:rPr>
              <a:t>Improvements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66C96DE-BEF0-84A9-55BA-912782C1D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BFC4B80-3516-EF7A-3E68-02D244F16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93DC70C-9F7E-AC52-3931-65AAE3ED7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C49F0A5-DF71-BD71-CD54-AF40D2BE7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5">
              <a:extLst>
                <a:ext uri="{FF2B5EF4-FFF2-40B4-BE49-F238E27FC236}">
                  <a16:creationId xmlns:a16="http://schemas.microsoft.com/office/drawing/2014/main" id="{8CB8BCDF-D742-309E-5416-F63755B2B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1B1FC-B94A-4A25-78B0-639A244B1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it-IT" sz="1800" dirty="0">
                <a:solidFill>
                  <a:schemeClr val="tx2"/>
                </a:solidFill>
              </a:rPr>
              <a:t>data_loader.py: </a:t>
            </a:r>
            <a:r>
              <a:rPr lang="it-IT" sz="1800" dirty="0" err="1">
                <a:solidFill>
                  <a:schemeClr val="tx2"/>
                </a:solidFill>
              </a:rPr>
              <a:t>direct</a:t>
            </a:r>
            <a:r>
              <a:rPr lang="it-IT" sz="1800" dirty="0">
                <a:solidFill>
                  <a:schemeClr val="tx2"/>
                </a:solidFill>
              </a:rPr>
              <a:t> use of </a:t>
            </a:r>
            <a:r>
              <a:rPr lang="it-IT" sz="1800" dirty="0" err="1">
                <a:solidFill>
                  <a:schemeClr val="tx2"/>
                </a:solidFill>
              </a:rPr>
              <a:t>scikit-learn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functions</a:t>
            </a:r>
            <a:endParaRPr lang="it-IT" sz="1800" dirty="0">
              <a:solidFill>
                <a:schemeClr val="tx2"/>
              </a:solidFill>
            </a:endParaRPr>
          </a:p>
          <a:p>
            <a:r>
              <a:rPr lang="it-IT" sz="1800" dirty="0">
                <a:solidFill>
                  <a:schemeClr val="tx2"/>
                </a:solidFill>
              </a:rPr>
              <a:t>utils.py: </a:t>
            </a:r>
          </a:p>
          <a:p>
            <a:pPr lvl="1"/>
            <a:r>
              <a:rPr lang="en-GB" sz="1400" dirty="0" err="1">
                <a:solidFill>
                  <a:schemeClr val="tx2"/>
                </a:solidFill>
              </a:rPr>
              <a:t>training_rf</a:t>
            </a:r>
            <a:r>
              <a:rPr lang="en-GB" sz="1400" dirty="0">
                <a:solidFill>
                  <a:schemeClr val="tx2"/>
                </a:solidFill>
              </a:rPr>
              <a:t>: direct use of scikit-learn functions and removing unnecessary operations</a:t>
            </a:r>
          </a:p>
          <a:p>
            <a:pPr lvl="1"/>
            <a:r>
              <a:rPr lang="en-GB" sz="1400" dirty="0" err="1">
                <a:solidFill>
                  <a:schemeClr val="tx2"/>
                </a:solidFill>
              </a:rPr>
              <a:t>extraction_tree</a:t>
            </a:r>
            <a:r>
              <a:rPr lang="en-GB" sz="1400" dirty="0">
                <a:solidFill>
                  <a:schemeClr val="tx2"/>
                </a:solidFill>
              </a:rPr>
              <a:t>: optimized!</a:t>
            </a:r>
          </a:p>
          <a:p>
            <a:pPr lvl="1"/>
            <a:r>
              <a:rPr lang="en-GB" sz="1400" dirty="0" err="1">
                <a:solidFill>
                  <a:schemeClr val="tx2"/>
                </a:solidFill>
              </a:rPr>
              <a:t>extraction_list</a:t>
            </a:r>
            <a:r>
              <a:rPr lang="en-GB" sz="1400" dirty="0">
                <a:solidFill>
                  <a:schemeClr val="tx2"/>
                </a:solidFill>
              </a:rPr>
              <a:t>: rewritten. Some terminals were considered as internal nodes by the logic</a:t>
            </a:r>
          </a:p>
          <a:p>
            <a:pPr lvl="1"/>
            <a:r>
              <a:rPr lang="en-GB" sz="1400" dirty="0">
                <a:solidFill>
                  <a:schemeClr val="tx2"/>
                </a:solidFill>
              </a:rPr>
              <a:t>generalization of similar functions and removing useless functions 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CF250B5-1A90-279D-EEF0-63947880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9" name="Freeform: Shape 18">
              <a:extLst>
                <a:ext uri="{FF2B5EF4-FFF2-40B4-BE49-F238E27FC236}">
                  <a16:creationId xmlns:a16="http://schemas.microsoft.com/office/drawing/2014/main" id="{4A5BB527-B426-6C78-03F5-1AEB231A7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9">
              <a:extLst>
                <a:ext uri="{FF2B5EF4-FFF2-40B4-BE49-F238E27FC236}">
                  <a16:creationId xmlns:a16="http://schemas.microsoft.com/office/drawing/2014/main" id="{6AAB7117-8BCD-10CE-5E17-8DB4285FC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20">
              <a:extLst>
                <a:ext uri="{FF2B5EF4-FFF2-40B4-BE49-F238E27FC236}">
                  <a16:creationId xmlns:a16="http://schemas.microsoft.com/office/drawing/2014/main" id="{DABD6446-4E5F-192C-5FB5-8A74A7B72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21">
              <a:extLst>
                <a:ext uri="{FF2B5EF4-FFF2-40B4-BE49-F238E27FC236}">
                  <a16:creationId xmlns:a16="http://schemas.microsoft.com/office/drawing/2014/main" id="{EA00A052-948C-0605-C34D-F655FAB04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931EC-081A-CCD6-A70C-C75263206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B7152C-4495-6CDF-2EF4-C7F7AEC82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CA275-F3B6-DD99-E051-830EBCDC1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CC289-1AD4-F0AC-B0F2-7A988007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 err="1">
                <a:solidFill>
                  <a:schemeClr val="tx2"/>
                </a:solidFill>
              </a:rPr>
              <a:t>Improvements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AA5BFBB-F548-0EC3-F9A4-493E51EB0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74A29C-1C25-5DB1-A1AD-898D96DB7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125AA03-EFAB-A050-2A97-407A45591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B8703B8-62A1-4BAA-39EA-5C5E01E4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5">
              <a:extLst>
                <a:ext uri="{FF2B5EF4-FFF2-40B4-BE49-F238E27FC236}">
                  <a16:creationId xmlns:a16="http://schemas.microsoft.com/office/drawing/2014/main" id="{14E1FA1E-285A-C178-DA7E-DD8E4C899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8C66-B1CF-730E-289C-EC2246DEC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it-IT" sz="1800" dirty="0">
                <a:solidFill>
                  <a:schemeClr val="tx2"/>
                </a:solidFill>
              </a:rPr>
              <a:t>gp_types.py: </a:t>
            </a:r>
          </a:p>
          <a:p>
            <a:pPr lvl="1"/>
            <a:r>
              <a:rPr lang="it-IT" sz="1400" dirty="0" err="1">
                <a:solidFill>
                  <a:schemeClr val="tx2"/>
                </a:solidFill>
              </a:rPr>
              <a:t>generalization</a:t>
            </a:r>
            <a:r>
              <a:rPr lang="it-IT" sz="1400" dirty="0">
                <a:solidFill>
                  <a:schemeClr val="tx2"/>
                </a:solidFill>
              </a:rPr>
              <a:t> of </a:t>
            </a:r>
            <a:r>
              <a:rPr lang="it-IT" sz="1400" dirty="0" err="1">
                <a:solidFill>
                  <a:schemeClr val="tx2"/>
                </a:solidFill>
              </a:rPr>
              <a:t>similar</a:t>
            </a:r>
            <a:r>
              <a:rPr lang="it-IT" sz="1400" dirty="0">
                <a:solidFill>
                  <a:schemeClr val="tx2"/>
                </a:solidFill>
              </a:rPr>
              <a:t> </a:t>
            </a:r>
            <a:r>
              <a:rPr lang="it-IT" sz="1400" dirty="0" err="1">
                <a:solidFill>
                  <a:schemeClr val="tx2"/>
                </a:solidFill>
              </a:rPr>
              <a:t>functions</a:t>
            </a:r>
            <a:r>
              <a:rPr lang="it-IT" sz="1400" dirty="0">
                <a:solidFill>
                  <a:schemeClr val="tx2"/>
                </a:solidFill>
              </a:rPr>
              <a:t> and </a:t>
            </a:r>
            <a:r>
              <a:rPr lang="it-IT" sz="1400" dirty="0" err="1">
                <a:solidFill>
                  <a:schemeClr val="tx2"/>
                </a:solidFill>
              </a:rPr>
              <a:t>removing</a:t>
            </a:r>
            <a:r>
              <a:rPr lang="it-IT" sz="1400" dirty="0">
                <a:solidFill>
                  <a:schemeClr val="tx2"/>
                </a:solidFill>
              </a:rPr>
              <a:t> </a:t>
            </a:r>
            <a:r>
              <a:rPr lang="it-IT" sz="1400" dirty="0" err="1">
                <a:solidFill>
                  <a:schemeClr val="tx2"/>
                </a:solidFill>
              </a:rPr>
              <a:t>useless</a:t>
            </a:r>
            <a:r>
              <a:rPr lang="it-IT" sz="1400" dirty="0">
                <a:solidFill>
                  <a:schemeClr val="tx2"/>
                </a:solidFill>
              </a:rPr>
              <a:t> </a:t>
            </a:r>
            <a:r>
              <a:rPr lang="it-IT" sz="1400" dirty="0" err="1">
                <a:solidFill>
                  <a:schemeClr val="tx2"/>
                </a:solidFill>
              </a:rPr>
              <a:t>operations</a:t>
            </a:r>
            <a:endParaRPr lang="it-IT" sz="1400" dirty="0">
              <a:solidFill>
                <a:schemeClr val="tx2"/>
              </a:solidFill>
            </a:endParaRPr>
          </a:p>
          <a:p>
            <a:pPr lvl="1"/>
            <a:r>
              <a:rPr lang="en-GB" sz="1400" dirty="0">
                <a:solidFill>
                  <a:schemeClr val="tx2"/>
                </a:solidFill>
              </a:rPr>
              <a:t>added calculation of equivalent nodes</a:t>
            </a:r>
            <a:endParaRPr lang="it-IT" sz="1400" dirty="0">
              <a:solidFill>
                <a:schemeClr val="tx2"/>
              </a:solidFill>
            </a:endParaRPr>
          </a:p>
          <a:p>
            <a:pPr lvl="1"/>
            <a:r>
              <a:rPr lang="it-IT" sz="1400" dirty="0">
                <a:solidFill>
                  <a:schemeClr val="tx2"/>
                </a:solidFill>
              </a:rPr>
              <a:t>div operator fix</a:t>
            </a:r>
          </a:p>
          <a:p>
            <a:pPr lvl="1"/>
            <a:r>
              <a:rPr lang="it-IT" sz="1400" dirty="0" err="1">
                <a:solidFill>
                  <a:schemeClr val="tx2"/>
                </a:solidFill>
              </a:rPr>
              <a:t>evolution</a:t>
            </a:r>
            <a:r>
              <a:rPr lang="it-IT" sz="1400" dirty="0">
                <a:solidFill>
                  <a:schemeClr val="tx2"/>
                </a:solidFill>
              </a:rPr>
              <a:t> </a:t>
            </a:r>
            <a:r>
              <a:rPr lang="it-IT" sz="1400" dirty="0" err="1">
                <a:solidFill>
                  <a:schemeClr val="tx2"/>
                </a:solidFill>
              </a:rPr>
              <a:t>correction</a:t>
            </a:r>
            <a:endParaRPr lang="it-IT" sz="1400" dirty="0">
              <a:solidFill>
                <a:schemeClr val="tx2"/>
              </a:solidFill>
            </a:endParaRPr>
          </a:p>
          <a:p>
            <a:pPr lvl="1"/>
            <a:r>
              <a:rPr lang="it-IT" sz="1400" dirty="0" err="1">
                <a:solidFill>
                  <a:schemeClr val="tx2"/>
                </a:solidFill>
              </a:rPr>
              <a:t>dinamic</a:t>
            </a:r>
            <a:r>
              <a:rPr lang="it-IT" sz="1400" dirty="0">
                <a:solidFill>
                  <a:schemeClr val="tx2"/>
                </a:solidFill>
              </a:rPr>
              <a:t> </a:t>
            </a:r>
            <a:r>
              <a:rPr lang="it-IT" sz="1400" dirty="0" err="1">
                <a:solidFill>
                  <a:schemeClr val="tx2"/>
                </a:solidFill>
              </a:rPr>
              <a:t>probability</a:t>
            </a:r>
            <a:r>
              <a:rPr lang="it-IT" sz="1400" dirty="0">
                <a:solidFill>
                  <a:schemeClr val="tx2"/>
                </a:solidFill>
              </a:rPr>
              <a:t> </a:t>
            </a:r>
            <a:r>
              <a:rPr lang="it-IT" sz="1400" dirty="0" err="1">
                <a:solidFill>
                  <a:schemeClr val="tx2"/>
                </a:solidFill>
              </a:rPr>
              <a:t>calculation</a:t>
            </a:r>
            <a:r>
              <a:rPr lang="it-IT" sz="1400" dirty="0">
                <a:solidFill>
                  <a:schemeClr val="tx2"/>
                </a:solidFill>
              </a:rPr>
              <a:t> fix</a:t>
            </a:r>
          </a:p>
          <a:p>
            <a:pPr lvl="1"/>
            <a:r>
              <a:rPr lang="it-IT" sz="1400" dirty="0" err="1">
                <a:solidFill>
                  <a:schemeClr val="tx2"/>
                </a:solidFill>
              </a:rPr>
              <a:t>pset</a:t>
            </a:r>
            <a:r>
              <a:rPr lang="it-IT" sz="1400" dirty="0">
                <a:solidFill>
                  <a:schemeClr val="tx2"/>
                </a:solidFill>
              </a:rPr>
              <a:t> update fix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B73F309-8483-827A-67D9-A800F96B1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9" name="Freeform: Shape 18">
              <a:extLst>
                <a:ext uri="{FF2B5EF4-FFF2-40B4-BE49-F238E27FC236}">
                  <a16:creationId xmlns:a16="http://schemas.microsoft.com/office/drawing/2014/main" id="{40005378-DFDA-E629-7231-1F12CF53C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9">
              <a:extLst>
                <a:ext uri="{FF2B5EF4-FFF2-40B4-BE49-F238E27FC236}">
                  <a16:creationId xmlns:a16="http://schemas.microsoft.com/office/drawing/2014/main" id="{B4AC55A0-65A1-AEC8-74DE-E0A67D3F9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20">
              <a:extLst>
                <a:ext uri="{FF2B5EF4-FFF2-40B4-BE49-F238E27FC236}">
                  <a16:creationId xmlns:a16="http://schemas.microsoft.com/office/drawing/2014/main" id="{AC6D9D71-A70E-2B9C-974A-A3DFD06D3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21">
              <a:extLst>
                <a:ext uri="{FF2B5EF4-FFF2-40B4-BE49-F238E27FC236}">
                  <a16:creationId xmlns:a16="http://schemas.microsoft.com/office/drawing/2014/main" id="{0C85CF2C-485F-2E01-8B9C-05C8AADCA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454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BD378-0CE8-C1BB-491D-532BC8342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2B61E8-44E0-25AB-8D88-CCBB2B60C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B38753-4834-7A24-7CC7-C99BA17AB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CA526-2A79-786F-A05F-4694869B6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 err="1">
                <a:solidFill>
                  <a:schemeClr val="tx2"/>
                </a:solidFill>
              </a:rPr>
              <a:t>Improvements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8E05D81-3ACB-9F14-3B70-4F2B5B558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8DC1BE7-4A56-DCF0-6E27-FFC0C2AF3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5EA5932-0747-0DE0-8BC5-F85A51AEF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153F09-9E03-801F-95DE-68E8EAE5D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5">
              <a:extLst>
                <a:ext uri="{FF2B5EF4-FFF2-40B4-BE49-F238E27FC236}">
                  <a16:creationId xmlns:a16="http://schemas.microsoft.com/office/drawing/2014/main" id="{F6B8630C-BF33-AD64-05BA-041A02EE1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E4B14-27EC-DD6A-5463-0D4753CB1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it-IT" sz="1800" dirty="0">
                <a:solidFill>
                  <a:schemeClr val="tx2"/>
                </a:solidFill>
              </a:rPr>
              <a:t>user_interface.py: </a:t>
            </a:r>
            <a:r>
              <a:rPr lang="en-GB" sz="1400" dirty="0">
                <a:solidFill>
                  <a:schemeClr val="tx2"/>
                </a:solidFill>
              </a:rPr>
              <a:t>added support for multiprocessing, possibility to configure more parameters and structured data saving</a:t>
            </a:r>
          </a:p>
          <a:p>
            <a:r>
              <a:rPr lang="it-IT" sz="1800" dirty="0">
                <a:solidFill>
                  <a:schemeClr val="tx2"/>
                </a:solidFill>
              </a:rPr>
              <a:t>terminal_interface.py: </a:t>
            </a:r>
            <a:r>
              <a:rPr lang="it-IT" sz="1800" dirty="0" err="1">
                <a:solidFill>
                  <a:schemeClr val="tx2"/>
                </a:solidFill>
              </a:rPr>
              <a:t>created</a:t>
            </a:r>
            <a:r>
              <a:rPr lang="it-IT" sz="1800" dirty="0">
                <a:solidFill>
                  <a:schemeClr val="tx2"/>
                </a:solidFill>
              </a:rPr>
              <a:t> to speed up the performances (</a:t>
            </a:r>
            <a:r>
              <a:rPr lang="it-IT" sz="1800" dirty="0" err="1">
                <a:solidFill>
                  <a:schemeClr val="tx2"/>
                </a:solidFill>
              </a:rPr>
              <a:t>same</a:t>
            </a:r>
            <a:r>
              <a:rPr lang="it-IT" sz="1800" dirty="0">
                <a:solidFill>
                  <a:schemeClr val="tx2"/>
                </a:solidFill>
              </a:rPr>
              <a:t> of user </a:t>
            </a:r>
            <a:r>
              <a:rPr lang="it-IT" sz="1800" dirty="0" err="1">
                <a:solidFill>
                  <a:schemeClr val="tx2"/>
                </a:solidFill>
              </a:rPr>
              <a:t>interface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but</a:t>
            </a:r>
            <a:r>
              <a:rPr lang="it-IT" sz="1800" dirty="0">
                <a:solidFill>
                  <a:schemeClr val="tx2"/>
                </a:solidFill>
              </a:rPr>
              <a:t> with no </a:t>
            </a:r>
            <a:r>
              <a:rPr lang="it-IT" sz="1800" dirty="0" err="1">
                <a:solidFill>
                  <a:schemeClr val="tx2"/>
                </a:solidFill>
              </a:rPr>
              <a:t>gui</a:t>
            </a:r>
            <a:r>
              <a:rPr lang="it-IT" sz="1800" dirty="0">
                <a:solidFill>
                  <a:schemeClr val="tx2"/>
                </a:solidFill>
              </a:rPr>
              <a:t>)</a:t>
            </a:r>
          </a:p>
          <a:p>
            <a:r>
              <a:rPr lang="it-IT" sz="1800" dirty="0">
                <a:solidFill>
                  <a:schemeClr val="tx2"/>
                </a:solidFill>
              </a:rPr>
              <a:t>user_interface_charts.py: shows/</a:t>
            </a:r>
            <a:r>
              <a:rPr lang="it-IT" sz="1800" dirty="0" err="1">
                <a:solidFill>
                  <a:schemeClr val="tx2"/>
                </a:solidFill>
              </a:rPr>
              <a:t>analyses</a:t>
            </a:r>
            <a:r>
              <a:rPr lang="it-IT" sz="1800" dirty="0">
                <a:solidFill>
                  <a:schemeClr val="tx2"/>
                </a:solidFill>
              </a:rPr>
              <a:t> the </a:t>
            </a:r>
            <a:r>
              <a:rPr lang="it-IT" sz="1800" dirty="0" err="1">
                <a:solidFill>
                  <a:schemeClr val="tx2"/>
                </a:solidFill>
              </a:rPr>
              <a:t>run</a:t>
            </a:r>
            <a:r>
              <a:rPr lang="it-IT" sz="1800" dirty="0">
                <a:solidFill>
                  <a:schemeClr val="tx2"/>
                </a:solidFill>
              </a:rPr>
              <a:t> data</a:t>
            </a:r>
          </a:p>
          <a:p>
            <a:r>
              <a:rPr lang="it-IT" sz="1800" dirty="0">
                <a:solidFill>
                  <a:schemeClr val="tx2"/>
                </a:solidFill>
              </a:rPr>
              <a:t>best_ind_f1.py:  </a:t>
            </a:r>
            <a:r>
              <a:rPr lang="it-IT" sz="1800" dirty="0" err="1">
                <a:solidFill>
                  <a:schemeClr val="tx2"/>
                </a:solidFill>
              </a:rPr>
              <a:t>removing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unecessary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operations</a:t>
            </a:r>
            <a:endParaRPr lang="it-IT" sz="1800" dirty="0">
              <a:solidFill>
                <a:schemeClr val="tx2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5E26EFF-952B-DCDE-0F47-8B6A0567D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9" name="Freeform: Shape 18">
              <a:extLst>
                <a:ext uri="{FF2B5EF4-FFF2-40B4-BE49-F238E27FC236}">
                  <a16:creationId xmlns:a16="http://schemas.microsoft.com/office/drawing/2014/main" id="{F0C2C03A-4A8C-7B80-D194-7F37AE5C4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9">
              <a:extLst>
                <a:ext uri="{FF2B5EF4-FFF2-40B4-BE49-F238E27FC236}">
                  <a16:creationId xmlns:a16="http://schemas.microsoft.com/office/drawing/2014/main" id="{092D6A45-0C02-A6CF-62B9-9911E9F0C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20">
              <a:extLst>
                <a:ext uri="{FF2B5EF4-FFF2-40B4-BE49-F238E27FC236}">
                  <a16:creationId xmlns:a16="http://schemas.microsoft.com/office/drawing/2014/main" id="{2A2ED239-A95A-6007-DF01-64365AC06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21">
              <a:extLst>
                <a:ext uri="{FF2B5EF4-FFF2-40B4-BE49-F238E27FC236}">
                  <a16:creationId xmlns:a16="http://schemas.microsoft.com/office/drawing/2014/main" id="{2424BC07-42A3-8E87-49A4-75B257CB1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169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A7DE6-3085-CC89-99B4-CD59E4E5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CC448A-675E-0FDB-A777-F50AD15C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D57AB-0093-87FD-FD28-87F1A4D66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D294C-038E-B534-E967-DE2869A1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 err="1">
                <a:solidFill>
                  <a:schemeClr val="tx2"/>
                </a:solidFill>
              </a:rPr>
              <a:t>Representation</a:t>
            </a:r>
            <a:r>
              <a:rPr lang="it-IT" sz="3600" dirty="0">
                <a:solidFill>
                  <a:schemeClr val="tx2"/>
                </a:solidFill>
              </a:rPr>
              <a:t> </a:t>
            </a:r>
            <a:r>
              <a:rPr lang="it-IT" sz="3600" dirty="0" err="1">
                <a:solidFill>
                  <a:schemeClr val="tx2"/>
                </a:solidFill>
              </a:rPr>
              <a:t>complexity</a:t>
            </a:r>
            <a:r>
              <a:rPr lang="it-IT" sz="3600" dirty="0">
                <a:solidFill>
                  <a:schemeClr val="tx2"/>
                </a:solidFill>
              </a:rPr>
              <a:t> </a:t>
            </a:r>
            <a:r>
              <a:rPr lang="it-IT" sz="3600" dirty="0" err="1">
                <a:solidFill>
                  <a:schemeClr val="tx2"/>
                </a:solidFill>
              </a:rPr>
              <a:t>analysis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C3D2CD3-F738-2A24-577C-DB9399C38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7688BE8-10E8-0CE1-5B85-1E18E976C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94E94D2-14DE-D295-CAFE-E688CC490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A112E7F-6D0F-D3FC-A142-CAA27F6FA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5">
              <a:extLst>
                <a:ext uri="{FF2B5EF4-FFF2-40B4-BE49-F238E27FC236}">
                  <a16:creationId xmlns:a16="http://schemas.microsoft.com/office/drawing/2014/main" id="{CC98AE11-FF43-A307-9B88-7BA876129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CE86D-C047-5416-FEC7-ABF26E401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it-IT" sz="1800" dirty="0" err="1">
                <a:solidFill>
                  <a:schemeClr val="tx2"/>
                </a:solidFill>
              </a:rPr>
              <a:t>extraction_tree</a:t>
            </a:r>
            <a:r>
              <a:rPr lang="it-IT" sz="1800" dirty="0">
                <a:solidFill>
                  <a:schemeClr val="tx2"/>
                </a:solidFill>
              </a:rPr>
              <a:t>: O(n)</a:t>
            </a:r>
          </a:p>
          <a:p>
            <a:r>
              <a:rPr lang="it-IT" sz="1800" dirty="0" err="1">
                <a:solidFill>
                  <a:schemeClr val="tx2"/>
                </a:solidFill>
              </a:rPr>
              <a:t>get_modules</a:t>
            </a:r>
            <a:r>
              <a:rPr lang="it-IT" sz="1800" dirty="0">
                <a:solidFill>
                  <a:schemeClr val="tx2"/>
                </a:solidFill>
              </a:rPr>
              <a:t>: O(p*e)</a:t>
            </a:r>
          </a:p>
          <a:p>
            <a:r>
              <a:rPr lang="it-IT" sz="1800" dirty="0" err="1">
                <a:solidFill>
                  <a:schemeClr val="tx2"/>
                </a:solidFill>
              </a:rPr>
              <a:t>extraction_list</a:t>
            </a:r>
            <a:r>
              <a:rPr lang="it-IT" sz="1800" dirty="0">
                <a:solidFill>
                  <a:schemeClr val="tx2"/>
                </a:solidFill>
              </a:rPr>
              <a:t>: O(n)</a:t>
            </a:r>
          </a:p>
          <a:p>
            <a:endParaRPr lang="it-IT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it-IT" sz="1800" dirty="0">
                <a:solidFill>
                  <a:schemeClr val="tx2"/>
                </a:solidFill>
              </a:rPr>
              <a:t>n = </a:t>
            </a:r>
            <a:r>
              <a:rPr lang="it-IT" sz="1800" dirty="0" err="1">
                <a:solidFill>
                  <a:schemeClr val="tx2"/>
                </a:solidFill>
              </a:rPr>
              <a:t>string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individual’s</a:t>
            </a:r>
            <a:r>
              <a:rPr lang="it-IT" sz="1800" dirty="0">
                <a:solidFill>
                  <a:schemeClr val="tx2"/>
                </a:solidFill>
              </a:rPr>
              <a:t> size</a:t>
            </a:r>
          </a:p>
          <a:p>
            <a:pPr marL="0" indent="0">
              <a:buNone/>
            </a:pPr>
            <a:r>
              <a:rPr lang="it-IT" sz="1800" dirty="0">
                <a:solidFill>
                  <a:schemeClr val="tx2"/>
                </a:solidFill>
              </a:rPr>
              <a:t>p = </a:t>
            </a:r>
            <a:r>
              <a:rPr lang="it-IT" sz="1800" dirty="0" err="1">
                <a:solidFill>
                  <a:schemeClr val="tx2"/>
                </a:solidFill>
              </a:rPr>
              <a:t>population’s</a:t>
            </a:r>
            <a:r>
              <a:rPr lang="it-IT" sz="1800" dirty="0">
                <a:solidFill>
                  <a:schemeClr val="tx2"/>
                </a:solidFill>
              </a:rPr>
              <a:t> size</a:t>
            </a:r>
          </a:p>
          <a:p>
            <a:pPr marL="0" indent="0">
              <a:buNone/>
            </a:pPr>
            <a:r>
              <a:rPr lang="it-IT" sz="1800" dirty="0">
                <a:solidFill>
                  <a:schemeClr val="tx2"/>
                </a:solidFill>
              </a:rPr>
              <a:t>e = </a:t>
            </a:r>
            <a:r>
              <a:rPr lang="it-IT" sz="1800" dirty="0" err="1">
                <a:solidFill>
                  <a:schemeClr val="tx2"/>
                </a:solidFill>
              </a:rPr>
              <a:t>complexity</a:t>
            </a:r>
            <a:r>
              <a:rPr lang="it-IT" sz="1800" dirty="0">
                <a:solidFill>
                  <a:schemeClr val="tx2"/>
                </a:solidFill>
              </a:rPr>
              <a:t> of the </a:t>
            </a:r>
            <a:r>
              <a:rPr lang="it-IT" sz="1800" dirty="0" err="1">
                <a:solidFill>
                  <a:schemeClr val="tx2"/>
                </a:solidFill>
              </a:rPr>
              <a:t>extraction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method</a:t>
            </a:r>
            <a:endParaRPr lang="it-IT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it-IT" sz="1800" dirty="0">
              <a:solidFill>
                <a:schemeClr val="tx2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ECD0FCF-D3DC-65DE-2F75-60F6037FB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9" name="Freeform: Shape 18">
              <a:extLst>
                <a:ext uri="{FF2B5EF4-FFF2-40B4-BE49-F238E27FC236}">
                  <a16:creationId xmlns:a16="http://schemas.microsoft.com/office/drawing/2014/main" id="{87021742-7BD1-35C2-E451-48C8497E6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9">
              <a:extLst>
                <a:ext uri="{FF2B5EF4-FFF2-40B4-BE49-F238E27FC236}">
                  <a16:creationId xmlns:a16="http://schemas.microsoft.com/office/drawing/2014/main" id="{E108A878-768A-4D9A-08E2-777A0B48A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20">
              <a:extLst>
                <a:ext uri="{FF2B5EF4-FFF2-40B4-BE49-F238E27FC236}">
                  <a16:creationId xmlns:a16="http://schemas.microsoft.com/office/drawing/2014/main" id="{52B4672C-1AC4-7040-1010-8B9738A9E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21">
              <a:extLst>
                <a:ext uri="{FF2B5EF4-FFF2-40B4-BE49-F238E27FC236}">
                  <a16:creationId xmlns:a16="http://schemas.microsoft.com/office/drawing/2014/main" id="{D868F371-396B-51CD-D22D-7ECB472C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420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9443D-E81B-09F1-C428-7AE90439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80189-C865-39AD-CD22-8E2B6B36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D69966-E727-39B5-F634-1ECE3BCE3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2CD62-359E-530A-146E-96146E789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629401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 err="1">
                <a:solidFill>
                  <a:schemeClr val="tx2"/>
                </a:solidFill>
              </a:rPr>
              <a:t>Results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CFA4FF6-7F78-FBE2-5A69-5720B6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48BFC76-6130-2508-C6F7-87CF7C20D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CB290D2-B408-449A-B98A-B089D37EF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5D91BAD-35B0-B8CE-C298-2769425EA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5">
              <a:extLst>
                <a:ext uri="{FF2B5EF4-FFF2-40B4-BE49-F238E27FC236}">
                  <a16:creationId xmlns:a16="http://schemas.microsoft.com/office/drawing/2014/main" id="{C3998276-205E-3169-4F54-1FA956A16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D93E506-9551-67F9-41D1-58FACDD1F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9" name="Freeform: Shape 18">
              <a:extLst>
                <a:ext uri="{FF2B5EF4-FFF2-40B4-BE49-F238E27FC236}">
                  <a16:creationId xmlns:a16="http://schemas.microsoft.com/office/drawing/2014/main" id="{682097E8-742C-AB39-E8B9-78D589A2F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9">
              <a:extLst>
                <a:ext uri="{FF2B5EF4-FFF2-40B4-BE49-F238E27FC236}">
                  <a16:creationId xmlns:a16="http://schemas.microsoft.com/office/drawing/2014/main" id="{A0F513C1-80AF-DC77-A124-FC1805A76D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20">
              <a:extLst>
                <a:ext uri="{FF2B5EF4-FFF2-40B4-BE49-F238E27FC236}">
                  <a16:creationId xmlns:a16="http://schemas.microsoft.com/office/drawing/2014/main" id="{2E8CF894-B78C-0B50-6FE6-F78637D12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21">
              <a:extLst>
                <a:ext uri="{FF2B5EF4-FFF2-40B4-BE49-F238E27FC236}">
                  <a16:creationId xmlns:a16="http://schemas.microsoft.com/office/drawing/2014/main" id="{309614C3-F98F-6E79-A448-21DA075C8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66B877E-A5F0-730F-E002-D5DCF92A2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57" y="2731284"/>
            <a:ext cx="4762913" cy="2027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8431FE-9893-7CD7-C79E-1AEFB95A9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984" y="2495238"/>
            <a:ext cx="4785775" cy="1508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6A2F35-D096-99AD-199E-E040D5FDE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7" y="4477026"/>
            <a:ext cx="4740051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1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A3B63-6F24-3207-F8AA-73CE241F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BEA10D0-CD90-166D-BC59-613910AAE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46E12D-49E0-F9D5-F75C-89E4B9CD2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97A68-70ED-3190-A87A-21F498E60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it-IT" sz="3600" dirty="0" err="1">
                <a:solidFill>
                  <a:schemeClr val="tx2"/>
                </a:solidFill>
              </a:rPr>
              <a:t>Conclusion</a:t>
            </a:r>
            <a:endParaRPr lang="en-GB" sz="3600" dirty="0">
              <a:solidFill>
                <a:schemeClr val="tx2"/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C576641-27AD-3127-6178-B4DD69AF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FF7CA6-CC58-85E8-9196-D1A4E3EDD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BFFCCC-CA21-D911-4F74-18026D5CBE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0891B6F-1775-D8A1-129D-77AF0D1B3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5">
              <a:extLst>
                <a:ext uri="{FF2B5EF4-FFF2-40B4-BE49-F238E27FC236}">
                  <a16:creationId xmlns:a16="http://schemas.microsoft.com/office/drawing/2014/main" id="{CCEE557A-1A34-600B-199F-6C1C985A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051D1-E060-683E-6C10-EC73EEF23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it-IT" sz="1800" dirty="0">
                <a:solidFill>
                  <a:schemeClr val="tx2"/>
                </a:solidFill>
              </a:rPr>
              <a:t>The «</a:t>
            </a:r>
            <a:r>
              <a:rPr lang="it-IT" sz="1800" dirty="0" err="1">
                <a:solidFill>
                  <a:schemeClr val="tx2"/>
                </a:solidFill>
              </a:rPr>
              <a:t>modified</a:t>
            </a:r>
            <a:r>
              <a:rPr lang="it-IT" sz="1800" dirty="0">
                <a:solidFill>
                  <a:schemeClr val="tx2"/>
                </a:solidFill>
              </a:rPr>
              <a:t>» GP lead to </a:t>
            </a:r>
            <a:r>
              <a:rPr lang="it-IT" sz="1800" dirty="0" err="1">
                <a:solidFill>
                  <a:schemeClr val="tx2"/>
                </a:solidFill>
              </a:rPr>
              <a:t>better</a:t>
            </a:r>
            <a:r>
              <a:rPr lang="it-IT" sz="1800" dirty="0">
                <a:solidFill>
                  <a:schemeClr val="tx2"/>
                </a:solidFill>
              </a:rPr>
              <a:t> performances </a:t>
            </a:r>
            <a:r>
              <a:rPr lang="it-IT" sz="1800" dirty="0" err="1">
                <a:solidFill>
                  <a:schemeClr val="tx2"/>
                </a:solidFill>
              </a:rPr>
              <a:t>but</a:t>
            </a:r>
            <a:r>
              <a:rPr lang="it-IT" sz="1800" dirty="0">
                <a:solidFill>
                  <a:schemeClr val="tx2"/>
                </a:solidFill>
              </a:rPr>
              <a:t> with a </a:t>
            </a:r>
            <a:r>
              <a:rPr lang="it-IT" sz="1800" dirty="0" err="1">
                <a:solidFill>
                  <a:schemeClr val="tx2"/>
                </a:solidFill>
              </a:rPr>
              <a:t>higher</a:t>
            </a:r>
            <a:r>
              <a:rPr lang="it-IT" sz="1800" dirty="0">
                <a:solidFill>
                  <a:schemeClr val="tx2"/>
                </a:solidFill>
              </a:rPr>
              <a:t> overhead </a:t>
            </a:r>
            <a:r>
              <a:rPr lang="it-IT" sz="1800" dirty="0" err="1">
                <a:solidFill>
                  <a:schemeClr val="tx2"/>
                </a:solidFill>
              </a:rPr>
              <a:t>respect</a:t>
            </a:r>
            <a:r>
              <a:rPr lang="it-IT" sz="1800" dirty="0">
                <a:solidFill>
                  <a:schemeClr val="tx2"/>
                </a:solidFill>
              </a:rPr>
              <a:t> the «</a:t>
            </a:r>
            <a:r>
              <a:rPr lang="it-IT" sz="1800" dirty="0" err="1">
                <a:solidFill>
                  <a:schemeClr val="tx2"/>
                </a:solidFill>
              </a:rPr>
              <a:t>normal</a:t>
            </a:r>
            <a:r>
              <a:rPr lang="it-IT" sz="1800" dirty="0">
                <a:solidFill>
                  <a:schemeClr val="tx2"/>
                </a:solidFill>
              </a:rPr>
              <a:t>» GP. A </a:t>
            </a:r>
            <a:r>
              <a:rPr lang="it-IT" sz="1800" dirty="0" err="1">
                <a:solidFill>
                  <a:schemeClr val="tx2"/>
                </a:solidFill>
              </a:rPr>
              <a:t>really</a:t>
            </a:r>
            <a:r>
              <a:rPr lang="it-IT" sz="1800" dirty="0">
                <a:solidFill>
                  <a:schemeClr val="tx2"/>
                </a:solidFill>
              </a:rPr>
              <a:t> high max </a:t>
            </a:r>
            <a:r>
              <a:rPr lang="it-IT" sz="1800" dirty="0" err="1">
                <a:solidFill>
                  <a:schemeClr val="tx2"/>
                </a:solidFill>
              </a:rPr>
              <a:t>depth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could</a:t>
            </a:r>
            <a:r>
              <a:rPr lang="it-IT" sz="1800" dirty="0">
                <a:solidFill>
                  <a:schemeClr val="tx2"/>
                </a:solidFill>
              </a:rPr>
              <a:t> make false </a:t>
            </a:r>
            <a:r>
              <a:rPr lang="it-IT" sz="1800" dirty="0" err="1">
                <a:solidFill>
                  <a:schemeClr val="tx2"/>
                </a:solidFill>
              </a:rPr>
              <a:t>this</a:t>
            </a:r>
            <a:r>
              <a:rPr lang="it-IT" sz="1800" dirty="0">
                <a:solidFill>
                  <a:schemeClr val="tx2"/>
                </a:solidFill>
              </a:rPr>
              <a:t> </a:t>
            </a:r>
            <a:r>
              <a:rPr lang="it-IT" sz="1800" dirty="0" err="1">
                <a:solidFill>
                  <a:schemeClr val="tx2"/>
                </a:solidFill>
              </a:rPr>
              <a:t>sentence</a:t>
            </a:r>
            <a:r>
              <a:rPr lang="it-IT" sz="1800" dirty="0">
                <a:solidFill>
                  <a:schemeClr val="tx2"/>
                </a:solidFill>
              </a:rPr>
              <a:t>.</a:t>
            </a: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E12B5D0-80A2-AFB8-C8A8-094F22450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9" name="Freeform: Shape 18">
              <a:extLst>
                <a:ext uri="{FF2B5EF4-FFF2-40B4-BE49-F238E27FC236}">
                  <a16:creationId xmlns:a16="http://schemas.microsoft.com/office/drawing/2014/main" id="{9338A055-B24E-BE36-9CBD-A34D08DECF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9">
              <a:extLst>
                <a:ext uri="{FF2B5EF4-FFF2-40B4-BE49-F238E27FC236}">
                  <a16:creationId xmlns:a16="http://schemas.microsoft.com/office/drawing/2014/main" id="{F8F06BE4-CFDC-AADB-4495-EEDBEC467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20">
              <a:extLst>
                <a:ext uri="{FF2B5EF4-FFF2-40B4-BE49-F238E27FC236}">
                  <a16:creationId xmlns:a16="http://schemas.microsoft.com/office/drawing/2014/main" id="{CEA193A6-BFB1-5360-D063-7AAE06F24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21">
              <a:extLst>
                <a:ext uri="{FF2B5EF4-FFF2-40B4-BE49-F238E27FC236}">
                  <a16:creationId xmlns:a16="http://schemas.microsoft.com/office/drawing/2014/main" id="{56E606F7-FD6F-9E99-F7D7-0BED3BCF9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728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287</Words>
  <Application>Microsoft Office PowerPoint</Application>
  <PresentationFormat>Widescreen</PresentationFormat>
  <Paragraphs>48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GP types comparison</vt:lpstr>
      <vt:lpstr>Project objective</vt:lpstr>
      <vt:lpstr>Workflow</vt:lpstr>
      <vt:lpstr>Improvements</vt:lpstr>
      <vt:lpstr>Improvements</vt:lpstr>
      <vt:lpstr>Improvements</vt:lpstr>
      <vt:lpstr>Representation complexity analysis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GIANVENUTI</dc:creator>
  <cp:lastModifiedBy>Matteo GIANVENUTI</cp:lastModifiedBy>
  <cp:revision>17</cp:revision>
  <dcterms:created xsi:type="dcterms:W3CDTF">2025-03-29T09:41:01Z</dcterms:created>
  <dcterms:modified xsi:type="dcterms:W3CDTF">2025-04-06T09:31:40Z</dcterms:modified>
</cp:coreProperties>
</file>